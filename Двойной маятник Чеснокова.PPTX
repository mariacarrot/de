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57" r:id="rId4"/>
    <p:sldId id="266" r:id="rId5"/>
    <p:sldId id="260" r:id="rId6"/>
    <p:sldId id="261" r:id="rId7"/>
    <p:sldId id="268" r:id="rId8"/>
    <p:sldId id="262" r:id="rId9"/>
    <p:sldId id="263" r:id="rId10"/>
    <p:sldId id="264" r:id="rId11"/>
    <p:sldId id="265" r:id="rId12"/>
    <p:sldId id="269" r:id="rId13"/>
    <p:sldId id="259" r:id="rId14"/>
    <p:sldId id="267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FF"/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5E4D90-9D03-4D32-91D9-F1C958C7B02C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BBF6BB-93BC-4A0E-907E-0B67D307BE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8924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10C8A-8AF3-47F4-95BE-29B49975BE31}" type="datetime1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8183-F4D9-49D1-82A8-C7902BE9A9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1790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99C27-B6B8-4BB1-882F-639C225B7186}" type="datetime1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8183-F4D9-49D1-82A8-C7902BE9A9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8672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2AA29-EE9B-43DC-8F4C-4966B30D1B43}" type="datetime1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8183-F4D9-49D1-82A8-C7902BE9A9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4974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A29DE-4D55-4F37-B3EC-BCD283169B92}" type="datetime1">
              <a:rPr lang="ru-RU" smtClean="0"/>
              <a:t>25.12.2025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8183-F4D9-49D1-82A8-C7902BE9A9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0065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F97A5-00AD-4F58-A7C3-333D72072375}" type="datetime1">
              <a:rPr lang="ru-RU" smtClean="0"/>
              <a:t>25.12.2025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8183-F4D9-49D1-82A8-C7902BE9A9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7170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3767C-C147-4BF0-994D-C7F1EA2C5C66}" type="datetime1">
              <a:rPr lang="ru-RU" smtClean="0"/>
              <a:t>25.12.2025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8183-F4D9-49D1-82A8-C7902BE9A9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1743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32720-79D9-42EC-A0A8-FAD7F7DFB246}" type="datetime1">
              <a:rPr lang="ru-RU" smtClean="0"/>
              <a:t>25.12.2025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8183-F4D9-49D1-82A8-C7902BE9A9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0415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EEAC6-12DD-4E44-8966-51B2B67D96A9}" type="datetime1">
              <a:rPr lang="ru-RU" smtClean="0"/>
              <a:t>25.12.2025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8183-F4D9-49D1-82A8-C7902BE9A9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35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F4687-892C-4AA4-BFFF-95D7AD5AC36A}" type="datetime1">
              <a:rPr lang="ru-RU" smtClean="0"/>
              <a:t>25.12.2025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8183-F4D9-49D1-82A8-C7902BE9A9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3338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0A22-6F4A-4D21-93BE-08637B7B47E5}" type="datetime1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8183-F4D9-49D1-82A8-C7902BE9A9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7933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90965-6201-42FD-B930-E4B283CAEDA8}" type="datetime1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8183-F4D9-49D1-82A8-C7902BE9A9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0143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7A5C75-2467-4572-A207-D28B26A8EF71}" type="datetime1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808183-F4D9-49D1-82A8-C7902BE9A9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3659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latin typeface="Bahnschrift Light" panose="020B0502040204020203" pitchFamily="34" charset="0"/>
              </a:rPr>
              <a:t>Двойной математический маятник</a:t>
            </a:r>
            <a:endParaRPr lang="ru-RU" dirty="0">
              <a:latin typeface="Bahnschrift Light" panose="020B0502040204020203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255962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70000"/>
              </a:lnSpc>
            </a:pPr>
            <a:r>
              <a:rPr lang="ru-RU" b="1" dirty="0">
                <a:latin typeface="Bahnschrift Light" panose="020B0502040204020203" pitchFamily="34" charset="0"/>
                <a:cs typeface="Times New Roman" pitchFamily="18" charset="0"/>
              </a:rPr>
              <a:t>Работу выполнила</a:t>
            </a:r>
            <a:r>
              <a:rPr lang="ru-RU" dirty="0">
                <a:latin typeface="Bahnschrift Light" panose="020B0502040204020203" pitchFamily="34" charset="0"/>
                <a:cs typeface="Times New Roman" pitchFamily="18" charset="0"/>
              </a:rPr>
              <a:t>: </a:t>
            </a:r>
            <a:r>
              <a:rPr lang="ru-RU" dirty="0" err="1">
                <a:latin typeface="Bahnschrift Light" panose="020B0502040204020203" pitchFamily="34" charset="0"/>
                <a:cs typeface="Times New Roman" pitchFamily="18" charset="0"/>
              </a:rPr>
              <a:t>Чеснокова</a:t>
            </a:r>
            <a:r>
              <a:rPr lang="ru-RU" dirty="0">
                <a:latin typeface="Bahnschrift Light" panose="020B0502040204020203" pitchFamily="34" charset="0"/>
                <a:cs typeface="Times New Roman" pitchFamily="18" charset="0"/>
              </a:rPr>
              <a:t> Мария, студент 1 курса магистратуры направления «Прикладная математика и информатика» филиала МГУ в Дубне.</a:t>
            </a:r>
          </a:p>
          <a:p>
            <a:endParaRPr lang="ru-RU" dirty="0" smtClean="0">
              <a:latin typeface="Bahnschrift Light" panose="020B0502040204020203" pitchFamily="34" charset="0"/>
            </a:endParaRPr>
          </a:p>
          <a:p>
            <a:endParaRPr lang="ru-RU" dirty="0" smtClean="0">
              <a:latin typeface="Bahnschrift Light" panose="020B0502040204020203" pitchFamily="34" charset="0"/>
            </a:endParaRPr>
          </a:p>
          <a:p>
            <a:endParaRPr lang="ru-RU" dirty="0">
              <a:latin typeface="Bahnschrift Light" panose="020B0502040204020203" pitchFamily="34" charset="0"/>
            </a:endParaRPr>
          </a:p>
          <a:p>
            <a:endParaRPr lang="ru-RU" dirty="0" smtClean="0">
              <a:latin typeface="Bahnschrift Light" panose="020B0502040204020203" pitchFamily="34" charset="0"/>
            </a:endParaRPr>
          </a:p>
          <a:p>
            <a:r>
              <a:rPr lang="ru-RU" dirty="0" smtClean="0">
                <a:latin typeface="Bahnschrift Light" panose="020B0502040204020203" pitchFamily="34" charset="0"/>
              </a:rPr>
              <a:t>Дубна, 2025</a:t>
            </a:r>
            <a:endParaRPr lang="ru-RU" dirty="0">
              <a:latin typeface="Bahnschrift Light" panose="020B0502040204020203" pitchFamily="34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8835" y="0"/>
            <a:ext cx="2263165" cy="96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62612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>
            <a:normAutofit/>
          </a:bodyPr>
          <a:lstStyle/>
          <a:p>
            <a:r>
              <a:rPr lang="ru-RU" sz="4000" dirty="0" smtClean="0">
                <a:latin typeface="Bahnschrift Light" panose="020B0502040204020203" pitchFamily="34" charset="0"/>
              </a:rPr>
              <a:t>Задачи</a:t>
            </a:r>
            <a:endParaRPr lang="ru-RU" sz="4000" dirty="0">
              <a:latin typeface="Bahnschrift Light" panose="020B0502040204020203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285875"/>
            <a:ext cx="10515600" cy="5033963"/>
          </a:xfrm>
        </p:spPr>
        <p:txBody>
          <a:bodyPr>
            <a:normAutofit fontScale="92500"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ru-RU" dirty="0" smtClean="0">
                <a:latin typeface="Bahnschrift Light" panose="020B0502040204020203" pitchFamily="34" charset="0"/>
              </a:rPr>
              <a:t>Используя упрощённую </a:t>
            </a:r>
            <a:r>
              <a:rPr lang="ru-RU" dirty="0" smtClean="0">
                <a:latin typeface="Bahnschrift Light" panose="020B0502040204020203" pitchFamily="34" charset="0"/>
              </a:rPr>
              <a:t>модель</a:t>
            </a:r>
            <a:r>
              <a:rPr lang="en-US" dirty="0" smtClean="0">
                <a:latin typeface="Bahnschrift Light" panose="020B0502040204020203" pitchFamily="34" charset="0"/>
              </a:rPr>
              <a:t>[1]</a:t>
            </a:r>
            <a:r>
              <a:rPr lang="ru-RU" dirty="0" smtClean="0">
                <a:latin typeface="Bahnschrift Light" panose="020B0502040204020203" pitchFamily="34" charset="0"/>
              </a:rPr>
              <a:t>, </a:t>
            </a:r>
            <a:r>
              <a:rPr lang="ru-RU" dirty="0" smtClean="0">
                <a:latin typeface="Bahnschrift Light" panose="020B0502040204020203" pitchFamily="34" charset="0"/>
              </a:rPr>
              <a:t>составить систему </a:t>
            </a:r>
            <a:r>
              <a:rPr lang="ru-RU" dirty="0">
                <a:latin typeface="Bahnschrift Light" panose="020B0502040204020203" pitchFamily="34" charset="0"/>
              </a:rPr>
              <a:t>дифференциальных уравнений для описания движения маятника с затуханием</a:t>
            </a:r>
            <a:r>
              <a:rPr lang="ru-RU" dirty="0" smtClean="0">
                <a:latin typeface="Bahnschrift Light" panose="020B0502040204020203" pitchFamily="34" charset="0"/>
              </a:rPr>
              <a:t>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dirty="0" smtClean="0">
                <a:latin typeface="Bahnschrift Light" panose="020B0502040204020203" pitchFamily="34" charset="0"/>
              </a:rPr>
              <a:t>Определить </a:t>
            </a:r>
            <a:r>
              <a:rPr lang="ru-RU" dirty="0">
                <a:latin typeface="Bahnschrift Light" panose="020B0502040204020203" pitchFamily="34" charset="0"/>
              </a:rPr>
              <a:t>момент времени, когда маятник был отпущен для </a:t>
            </a:r>
            <a:r>
              <a:rPr lang="ru-RU" dirty="0" smtClean="0">
                <a:latin typeface="Bahnschrift Light" panose="020B0502040204020203" pitchFamily="34" charset="0"/>
              </a:rPr>
              <a:t>свободного движения.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dirty="0" smtClean="0">
                <a:latin typeface="Bahnschrift Light" panose="020B0502040204020203" pitchFamily="34" charset="0"/>
              </a:rPr>
              <a:t>Определить, </a:t>
            </a:r>
            <a:r>
              <a:rPr lang="ru-RU" dirty="0">
                <a:latin typeface="Bahnschrift Light" panose="020B0502040204020203" pitchFamily="34" charset="0"/>
              </a:rPr>
              <a:t>сколько секунд </a:t>
            </a:r>
            <a:r>
              <a:rPr lang="ru-RU" dirty="0" smtClean="0">
                <a:latin typeface="Bahnschrift Light" panose="020B0502040204020203" pitchFamily="34" charset="0"/>
              </a:rPr>
              <a:t>наблюдалась </a:t>
            </a:r>
            <a:r>
              <a:rPr lang="ru-RU" dirty="0">
                <a:latin typeface="Bahnschrift Light" panose="020B0502040204020203" pitchFamily="34" charset="0"/>
              </a:rPr>
              <a:t>высокая корреляция значений модели с данными эксперимента.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dirty="0" smtClean="0">
                <a:latin typeface="Bahnschrift Light" panose="020B0502040204020203" pitchFamily="34" charset="0"/>
              </a:rPr>
              <a:t>Выполнить </a:t>
            </a:r>
            <a:r>
              <a:rPr lang="ru-RU" dirty="0">
                <a:latin typeface="Bahnschrift Light" panose="020B0502040204020203" pitchFamily="34" charset="0"/>
              </a:rPr>
              <a:t>графическое сравнение результатов и </a:t>
            </a:r>
            <a:r>
              <a:rPr lang="ru-RU" dirty="0" smtClean="0">
                <a:latin typeface="Bahnschrift Light" panose="020B0502040204020203" pitchFamily="34" charset="0"/>
              </a:rPr>
              <a:t>предоставить </a:t>
            </a:r>
            <a:r>
              <a:rPr lang="ru-RU" dirty="0">
                <a:latin typeface="Bahnschrift Light" panose="020B0502040204020203" pitchFamily="34" charset="0"/>
              </a:rPr>
              <a:t>анализ с применением методов описательной статистики. </a:t>
            </a:r>
            <a:endParaRPr lang="ru-RU" dirty="0" smtClean="0">
              <a:latin typeface="Bahnschrift Light" panose="020B0502040204020203" pitchFamily="34" charset="0"/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ru-RU" dirty="0" smtClean="0">
                <a:latin typeface="Bahnschrift Light" panose="020B0502040204020203" pitchFamily="34" charset="0"/>
              </a:rPr>
              <a:t>Для </a:t>
            </a:r>
            <a:r>
              <a:rPr lang="ru-RU" dirty="0">
                <a:latin typeface="Bahnschrift Light" panose="020B0502040204020203" pitchFamily="34" charset="0"/>
              </a:rPr>
              <a:t>скорректированной модели продемонстрируйте динамику двойного маятника с помощью сечений </a:t>
            </a:r>
            <a:r>
              <a:rPr lang="ru-RU" dirty="0" smtClean="0">
                <a:latin typeface="Bahnschrift Light" panose="020B0502040204020203" pitchFamily="34" charset="0"/>
              </a:rPr>
              <a:t>Пуанкаре</a:t>
            </a:r>
            <a:r>
              <a:rPr lang="en-US" smtClean="0">
                <a:latin typeface="Bahnschrift Light" panose="020B0502040204020203" pitchFamily="34" charset="0"/>
              </a:rPr>
              <a:t>[2, 3]</a:t>
            </a:r>
            <a:r>
              <a:rPr lang="ru-RU" dirty="0" smtClean="0">
                <a:latin typeface="Bahnschrift Light" panose="020B0502040204020203" pitchFamily="34" charset="0"/>
              </a:rPr>
              <a:t>. </a:t>
            </a:r>
            <a:endParaRPr lang="ru-RU" dirty="0">
              <a:latin typeface="Bahnschrift Light" panose="020B0502040204020203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8183-F4D9-49D1-82A8-C7902BE9A9EB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751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099" y="1491594"/>
            <a:ext cx="3800475" cy="4284387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8850"/>
          </a:xfrm>
        </p:spPr>
        <p:txBody>
          <a:bodyPr>
            <a:normAutofit/>
          </a:bodyPr>
          <a:lstStyle/>
          <a:p>
            <a:r>
              <a:rPr lang="ru-RU" sz="4000" dirty="0" smtClean="0">
                <a:latin typeface="Bahnschrift Light" panose="020B0502040204020203" pitchFamily="34" charset="0"/>
              </a:rPr>
              <a:t>Модель </a:t>
            </a:r>
            <a:r>
              <a:rPr lang="ru-RU" sz="4000" dirty="0" smtClean="0">
                <a:latin typeface="Bahnschrift Light" panose="020B0502040204020203" pitchFamily="34" charset="0"/>
              </a:rPr>
              <a:t>1</a:t>
            </a:r>
            <a:endParaRPr lang="ru-RU" sz="4000" dirty="0">
              <a:latin typeface="Bahnschrift Light" panose="020B0502040204020203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4219574" y="1352552"/>
                <a:ext cx="7343775" cy="4867273"/>
              </a:xfrm>
            </p:spPr>
            <p:txBody>
              <a:bodyPr>
                <a:normAutofit fontScale="77500" lnSpcReduction="20000"/>
              </a:bodyPr>
              <a:lstStyle/>
              <a:p>
                <a:pPr marL="514350" indent="-514350" algn="just">
                  <a:lnSpc>
                    <a:spcPct val="130000"/>
                  </a:lnSpc>
                  <a:buFont typeface="+mj-lt"/>
                  <a:buAutoNum type="arabicPeriod"/>
                </a:pPr>
                <a:r>
                  <a:rPr lang="ru-RU" dirty="0" smtClean="0">
                    <a:latin typeface="Bahnschrift Light" panose="020B0502040204020203" pitchFamily="34" charset="0"/>
                  </a:rPr>
                  <a:t>Маятник </a:t>
                </a:r>
                <a:r>
                  <a:rPr lang="ru-RU" dirty="0" smtClean="0">
                    <a:latin typeface="Bahnschrift Light" panose="020B0502040204020203" pitchFamily="34" charset="0"/>
                  </a:rPr>
                  <a:t>состоит </a:t>
                </a:r>
                <a:r>
                  <a:rPr lang="ru-RU" dirty="0">
                    <a:latin typeface="Bahnschrift Light" panose="020B0502040204020203" pitchFamily="34" charset="0"/>
                  </a:rPr>
                  <a:t>из двух безмассовых жёстких стержней, на которых закреплены материальные точки масс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dirty="0" smtClean="0">
                    <a:latin typeface="Bahnschrift Light" panose="020B0502040204020203" pitchFamily="34" charset="0"/>
                  </a:rPr>
                  <a:t>​ </a:t>
                </a:r>
                <a:r>
                  <a:rPr lang="ru-RU" dirty="0">
                    <a:latin typeface="Bahnschrift Light" panose="020B0502040204020203" pitchFamily="34" charset="0"/>
                  </a:rPr>
                  <a:t>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dirty="0" smtClean="0">
                    <a:latin typeface="Bahnschrift Light" panose="020B0502040204020203" pitchFamily="34" charset="0"/>
                  </a:rPr>
                  <a:t>​</a:t>
                </a:r>
                <a:r>
                  <a:rPr lang="ru-RU" dirty="0">
                    <a:latin typeface="Bahnschrift Light" panose="020B0502040204020203" pitchFamily="34" charset="0"/>
                  </a:rPr>
                  <a:t>, расположенные на расстояниях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i="1" dirty="0" smtClean="0">
                        <a:latin typeface="Cambria Math" panose="02040503050406030204" pitchFamily="18" charset="0"/>
                      </a:rPr>
                      <m:t>​</m:t>
                    </m:r>
                  </m:oMath>
                </a14:m>
                <a:r>
                  <a:rPr lang="ru-RU" dirty="0" smtClean="0">
                    <a:latin typeface="Bahnschrift Light" panose="020B0502040204020203" pitchFamily="34" charset="0"/>
                  </a:rPr>
                  <a:t> </a:t>
                </a:r>
                <a:r>
                  <a:rPr lang="ru-RU" dirty="0">
                    <a:latin typeface="Bahnschrift Light" panose="020B0502040204020203" pitchFamily="34" charset="0"/>
                  </a:rPr>
                  <a:t>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dirty="0" smtClean="0">
                    <a:latin typeface="Bahnschrift Light" panose="020B0502040204020203" pitchFamily="34" charset="0"/>
                  </a:rPr>
                  <a:t>​ </a:t>
                </a:r>
                <a:r>
                  <a:rPr lang="ru-RU" dirty="0">
                    <a:latin typeface="Bahnschrift Light" panose="020B0502040204020203" pitchFamily="34" charset="0"/>
                  </a:rPr>
                  <a:t>от соответствующих осей вращения</a:t>
                </a:r>
                <a:r>
                  <a:rPr lang="ru-RU" dirty="0" smtClean="0">
                    <a:latin typeface="Bahnschrift Light" panose="020B0502040204020203" pitchFamily="34" charset="0"/>
                  </a:rPr>
                  <a:t>. </a:t>
                </a:r>
              </a:p>
              <a:p>
                <a:pPr marL="514350" indent="-514350" algn="just">
                  <a:lnSpc>
                    <a:spcPct val="130000"/>
                  </a:lnSpc>
                  <a:buFont typeface="+mj-lt"/>
                  <a:buAutoNum type="arabicPeriod"/>
                </a:pPr>
                <a:r>
                  <a:rPr lang="ru-RU" dirty="0" smtClean="0">
                    <a:latin typeface="Bahnschrift Light" panose="020B0502040204020203" pitchFamily="34" charset="0"/>
                  </a:rPr>
                  <a:t>Движение </a:t>
                </a:r>
                <a:r>
                  <a:rPr lang="ru-RU" dirty="0">
                    <a:latin typeface="Bahnschrift Light" panose="020B0502040204020203" pitchFamily="34" charset="0"/>
                  </a:rPr>
                  <a:t>системы описывается обобщёнными координатами, определяющими углы отклонения звеньев от вертикали</a:t>
                </a:r>
                <a:r>
                  <a:rPr lang="ru-RU" dirty="0" smtClean="0">
                    <a:latin typeface="Bahnschrift Light" panose="020B0502040204020203" pitchFamily="34" charset="0"/>
                  </a:rPr>
                  <a:t>.</a:t>
                </a:r>
              </a:p>
              <a:p>
                <a:pPr marL="514350" indent="-514350">
                  <a:lnSpc>
                    <a:spcPct val="130000"/>
                  </a:lnSpc>
                  <a:buFont typeface="+mj-lt"/>
                  <a:buAutoNum type="arabicPeriod"/>
                </a:pPr>
                <a:r>
                  <a:rPr lang="ru-RU" dirty="0" smtClean="0">
                    <a:latin typeface="Bahnschrift Light" panose="020B0502040204020203" pitchFamily="34" charset="0"/>
                  </a:rPr>
                  <a:t>Собственное </a:t>
                </a:r>
                <a:r>
                  <a:rPr lang="ru-RU" dirty="0">
                    <a:latin typeface="Bahnschrift Light" panose="020B0502040204020203" pitchFamily="34" charset="0"/>
                  </a:rPr>
                  <a:t>вращение стержней и распределение массы вдоль их длины не учитываются</a:t>
                </a:r>
                <a:r>
                  <a:rPr lang="ru-RU" dirty="0" smtClean="0">
                    <a:latin typeface="Bahnschrift Light" panose="020B0502040204020203" pitchFamily="34" charset="0"/>
                  </a:rPr>
                  <a:t>.</a:t>
                </a:r>
                <a:endParaRPr lang="ru-RU" dirty="0">
                  <a:latin typeface="Bahnschrift Light" panose="020B0502040204020203" pitchFamily="34" charset="0"/>
                </a:endParaRPr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19574" y="1352552"/>
                <a:ext cx="7343775" cy="4867273"/>
              </a:xfrm>
              <a:blipFill>
                <a:blip r:embed="rId3"/>
                <a:stretch>
                  <a:fillRect l="-1079" t="-1003" r="-99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8183-F4D9-49D1-82A8-C7902BE9A9EB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0618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93676"/>
            <a:ext cx="10515600" cy="628650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Bahnschrift Light" panose="020B0502040204020203" pitchFamily="34" charset="0"/>
              </a:rPr>
              <a:t>Система дифференциальных уравнений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904875"/>
                <a:ext cx="10515600" cy="5534025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dirty="0">
                  <a:latin typeface="Bahnschrift Light" panose="020B0502040204020203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ru-RU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acc>
                                <m:accPr>
                                  <m:chr m:val="̈"/>
                                  <m:ctrlPr>
                                    <a:rPr lang="ru-RU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acc>
                            </m:num>
                            <m:den>
                              <m:acc>
                                <m:accPr>
                                  <m:chr m:val="̈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acc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b="0" dirty="0" smtClean="0">
                  <a:latin typeface="Bahnschrift Light" panose="020B0502040204020203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i="1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i="1"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i="1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i="1"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r>
                        <a:rPr lang="pt-BR" i="1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i="1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i="1"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pt-BR" i="1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pt-BR" i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 smtClean="0">
                  <a:latin typeface="Bahnschrift Light" panose="020B0502040204020203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𝑠𝑖𝑛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acc>
                        <m:accPr>
                          <m:chr m:val="̇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b="0" dirty="0" smtClean="0">
                  <a:latin typeface="Bahnschrift Light" panose="020B0502040204020203" pitchFamily="34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ru-RU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acc>
                        <m:accPr>
                          <m:chr m:val="̇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dirty="0" smtClean="0">
                  <a:latin typeface="Bahnschrift Light" panose="020B0502040204020203" pitchFamily="34" charset="0"/>
                </a:endParaRPr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904875"/>
                <a:ext cx="10515600" cy="553402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8183-F4D9-49D1-82A8-C7902BE9A9EB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5869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1700"/>
          </a:xfrm>
        </p:spPr>
        <p:txBody>
          <a:bodyPr>
            <a:normAutofit/>
          </a:bodyPr>
          <a:lstStyle/>
          <a:p>
            <a:r>
              <a:rPr lang="ru-RU" sz="3600" dirty="0" smtClean="0">
                <a:latin typeface="Bahnschrift Light" panose="020B0502040204020203" pitchFamily="34" charset="0"/>
              </a:rPr>
              <a:t>Подбор параметров модели</a:t>
            </a:r>
            <a:endParaRPr lang="ru-RU" sz="3600" dirty="0">
              <a:latin typeface="Bahnschrift Light" panose="020B0502040204020203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266826"/>
            <a:ext cx="10515600" cy="4910137"/>
          </a:xfrm>
        </p:spPr>
        <p:txBody>
          <a:bodyPr>
            <a:normAutofit lnSpcReduction="10000"/>
          </a:bodyPr>
          <a:lstStyle/>
          <a:p>
            <a:pPr marL="514350" indent="-514350" algn="just">
              <a:lnSpc>
                <a:spcPct val="120000"/>
              </a:lnSpc>
              <a:buFont typeface="+mj-lt"/>
              <a:buAutoNum type="arabicPeriod"/>
            </a:pPr>
            <a:r>
              <a:rPr lang="ru-RU" dirty="0" smtClean="0">
                <a:latin typeface="Bahnschrift Light" panose="020B0502040204020203" pitchFamily="34" charset="0"/>
              </a:rPr>
              <a:t>Предполагаем, </a:t>
            </a:r>
            <a:r>
              <a:rPr lang="ru-RU" dirty="0">
                <a:latin typeface="Bahnschrift Light" panose="020B0502040204020203" pitchFamily="34" charset="0"/>
              </a:rPr>
              <a:t>что до отпускания маятник практически неподвижен, а в момент отпускания происходит резкий рост угловых скоростей. </a:t>
            </a:r>
            <a:r>
              <a:rPr lang="ru-RU" dirty="0" smtClean="0">
                <a:latin typeface="Bahnschrift Light" panose="020B0502040204020203" pitchFamily="34" charset="0"/>
              </a:rPr>
              <a:t>Если </a:t>
            </a:r>
            <a:r>
              <a:rPr lang="ru-RU" dirty="0">
                <a:latin typeface="Bahnschrift Light" panose="020B0502040204020203" pitchFamily="34" charset="0"/>
              </a:rPr>
              <a:t>резкий скачок скорости не </a:t>
            </a:r>
            <a:r>
              <a:rPr lang="ru-RU" dirty="0" smtClean="0">
                <a:latin typeface="Bahnschrift Light" panose="020B0502040204020203" pitchFamily="34" charset="0"/>
              </a:rPr>
              <a:t>обнаружен выбирается </a:t>
            </a:r>
            <a:r>
              <a:rPr lang="ru-RU" dirty="0">
                <a:latin typeface="Bahnschrift Light" panose="020B0502040204020203" pitchFamily="34" charset="0"/>
              </a:rPr>
              <a:t>момент максимальной </a:t>
            </a:r>
            <a:r>
              <a:rPr lang="ru-RU" dirty="0" smtClean="0">
                <a:latin typeface="Bahnschrift Light" panose="020B0502040204020203" pitchFamily="34" charset="0"/>
              </a:rPr>
              <a:t>скорости.</a:t>
            </a:r>
          </a:p>
          <a:p>
            <a:pPr marL="514350" indent="-514350" algn="just">
              <a:lnSpc>
                <a:spcPct val="120000"/>
              </a:lnSpc>
              <a:buFont typeface="+mj-lt"/>
              <a:buAutoNum type="arabicPeriod"/>
            </a:pPr>
            <a:r>
              <a:rPr lang="ru-RU" dirty="0">
                <a:latin typeface="Bahnschrift Light" panose="020B0502040204020203" pitchFamily="34" charset="0"/>
              </a:rPr>
              <a:t>Начнём исследовать поведение маятника именно с момента его отпускания</a:t>
            </a:r>
            <a:r>
              <a:rPr lang="ru-RU" dirty="0" smtClean="0">
                <a:latin typeface="Bahnschrift Light" panose="020B0502040204020203" pitchFamily="34" charset="0"/>
              </a:rPr>
              <a:t>.</a:t>
            </a:r>
          </a:p>
          <a:p>
            <a:pPr marL="514350" indent="-514350" algn="just">
              <a:lnSpc>
                <a:spcPct val="120000"/>
              </a:lnSpc>
              <a:buFont typeface="+mj-lt"/>
              <a:buAutoNum type="arabicPeriod"/>
            </a:pPr>
            <a:r>
              <a:rPr lang="ru-RU" dirty="0" smtClean="0">
                <a:latin typeface="Bahnschrift Light" panose="020B0502040204020203" pitchFamily="34" charset="0"/>
              </a:rPr>
              <a:t>Подбираются параметры: начальная угловая скорость, коэффициент вязкого затухания.</a:t>
            </a:r>
          </a:p>
          <a:p>
            <a:pPr marL="514350" indent="-514350" algn="just">
              <a:lnSpc>
                <a:spcPct val="120000"/>
              </a:lnSpc>
              <a:buFont typeface="+mj-lt"/>
              <a:buAutoNum type="arabicPeriod"/>
            </a:pPr>
            <a:r>
              <a:rPr lang="ru-RU" dirty="0" smtClean="0">
                <a:latin typeface="Bahnschrift Light" panose="020B0502040204020203" pitchFamily="34" charset="0"/>
              </a:rPr>
              <a:t>Используется метод наименьших квадратов.</a:t>
            </a:r>
            <a:endParaRPr lang="ru-RU" dirty="0">
              <a:latin typeface="Bahnschrift Light" panose="020B0502040204020203" pitchFamily="34" charset="0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8183-F4D9-49D1-82A8-C7902BE9A9EB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01901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9300"/>
          </a:xfrm>
        </p:spPr>
        <p:txBody>
          <a:bodyPr>
            <a:normAutofit/>
          </a:bodyPr>
          <a:lstStyle/>
          <a:p>
            <a:r>
              <a:rPr lang="ru-RU" sz="4000" dirty="0" smtClean="0">
                <a:latin typeface="Bahnschrift Light" panose="020B0502040204020203" pitchFamily="34" charset="0"/>
              </a:rPr>
              <a:t>Результаты для первой модели маятника 1</a:t>
            </a:r>
            <a:endParaRPr lang="ru-RU" sz="4000" dirty="0">
              <a:latin typeface="Bahnschrift Light" panose="020B0502040204020203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8183-F4D9-49D1-82A8-C7902BE9A9EB}" type="slidenum">
              <a:rPr lang="ru-RU" smtClean="0"/>
              <a:t>6</a:t>
            </a:fld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2"/>
          <a:srcRect b="16683"/>
          <a:stretch/>
        </p:blipFill>
        <p:spPr>
          <a:xfrm>
            <a:off x="686362" y="1401346"/>
            <a:ext cx="10049849" cy="4111171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2395723" y="5470462"/>
            <a:ext cx="76258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Bahnschrift Light" panose="020B0502040204020203" pitchFamily="34" charset="0"/>
              </a:rPr>
              <a:t>Рисунок </a:t>
            </a:r>
            <a:r>
              <a:rPr lang="ru-RU" dirty="0" smtClean="0">
                <a:latin typeface="Bahnschrift Light" panose="020B0502040204020203" pitchFamily="34" charset="0"/>
              </a:rPr>
              <a:t>1. Графики сравнения модели и экспериментальных данных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03490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41300"/>
            <a:ext cx="10515600" cy="949325"/>
          </a:xfrm>
        </p:spPr>
        <p:txBody>
          <a:bodyPr>
            <a:normAutofit/>
          </a:bodyPr>
          <a:lstStyle/>
          <a:p>
            <a:r>
              <a:rPr lang="ru-RU" sz="4000" dirty="0">
                <a:latin typeface="Bahnschrift Light" panose="020B0502040204020203" pitchFamily="34" charset="0"/>
              </a:rPr>
              <a:t>Результаты для первой модели </a:t>
            </a:r>
            <a:r>
              <a:rPr lang="ru-RU" sz="4000" dirty="0" smtClean="0">
                <a:latin typeface="Bahnschrift Light" panose="020B0502040204020203" pitchFamily="34" charset="0"/>
              </a:rPr>
              <a:t>маятника 2</a:t>
            </a:r>
            <a:endParaRPr lang="ru-RU" sz="40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8183-F4D9-49D1-82A8-C7902BE9A9EB}" type="slidenum">
              <a:rPr lang="ru-RU" smtClean="0"/>
              <a:t>7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3685" y="1702286"/>
            <a:ext cx="4424629" cy="3188822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3745166" y="4986106"/>
            <a:ext cx="48654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latin typeface="Bahnschrift Light" panose="020B0502040204020203" pitchFamily="34" charset="0"/>
              </a:rPr>
              <a:t>Рисунок 2. Численные результаты модели 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76405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79400"/>
            <a:ext cx="10515600" cy="796925"/>
          </a:xfrm>
        </p:spPr>
        <p:txBody>
          <a:bodyPr>
            <a:normAutofit/>
          </a:bodyPr>
          <a:lstStyle/>
          <a:p>
            <a:r>
              <a:rPr lang="ru-RU" sz="4000" dirty="0" smtClean="0">
                <a:latin typeface="Bahnschrift Light" panose="020B0502040204020203" pitchFamily="34" charset="0"/>
              </a:rPr>
              <a:t>Сечение Пуанкаре для модели 1</a:t>
            </a:r>
            <a:endParaRPr lang="ru-RU" sz="4000" dirty="0">
              <a:latin typeface="Bahnschrift Light" panose="020B0502040204020203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2638425" y="6013254"/>
                <a:ext cx="6096000" cy="39062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1800" dirty="0" smtClean="0">
                    <a:latin typeface="Bahnschrift Light" panose="020B0502040204020203" pitchFamily="34" charset="0"/>
                  </a:rPr>
                  <a:t>Рисунок 3. Сечение </a:t>
                </a:r>
                <a:r>
                  <a:rPr lang="ru-RU" sz="1800" dirty="0">
                    <a:latin typeface="Bahnschrift Light" panose="020B0502040204020203" pitchFamily="34" charset="0"/>
                  </a:rPr>
                  <a:t>П</a:t>
                </a:r>
                <a:r>
                  <a:rPr lang="ru-RU" sz="1800" dirty="0" smtClean="0">
                    <a:latin typeface="Bahnschrift Light" panose="020B0502040204020203" pitchFamily="34" charset="0"/>
                  </a:rPr>
                  <a:t>уанкаре при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𝑐𝑜𝑛𝑠𝑡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ru-RU" sz="1800" dirty="0" smtClean="0">
                    <a:latin typeface="Bahnschrift Light" panose="020B0502040204020203" pitchFamily="34" charset="0"/>
                  </a:rPr>
                  <a:t> </a:t>
                </a:r>
                <a:endParaRPr lang="ru-RU" sz="1800" dirty="0">
                  <a:latin typeface="Bahnschrift Light" panose="020B0502040204020203" pitchFamily="34" charset="0"/>
                </a:endParaRPr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38425" y="6013254"/>
                <a:ext cx="6096000" cy="390623"/>
              </a:xfrm>
              <a:blipFill>
                <a:blip r:embed="rId2"/>
                <a:stretch>
                  <a:fillRect l="-900" t="-15385" b="-923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8183-F4D9-49D1-82A8-C7902BE9A9EB}" type="slidenum">
              <a:rPr lang="ru-RU" smtClean="0"/>
              <a:t>8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8468" y="1139825"/>
            <a:ext cx="5024908" cy="4825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774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418336"/>
            <a:ext cx="10515600" cy="701675"/>
          </a:xfrm>
        </p:spPr>
        <p:txBody>
          <a:bodyPr/>
          <a:lstStyle/>
          <a:p>
            <a:r>
              <a:rPr lang="ru-RU" dirty="0" smtClean="0"/>
              <a:t>Модель 2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81936"/>
                <a:ext cx="10791825" cy="3785364"/>
              </a:xfrm>
            </p:spPr>
            <p:txBody>
              <a:bodyPr>
                <a:normAutofit lnSpcReduction="10000"/>
              </a:bodyPr>
              <a:lstStyle/>
              <a:p>
                <a:pPr marL="514350" indent="-514350" algn="just">
                  <a:lnSpc>
                    <a:spcPct val="140000"/>
                  </a:lnSpc>
                  <a:buFont typeface="+mj-lt"/>
                  <a:buAutoNum type="arabicPeriod"/>
                </a:pPr>
                <a:r>
                  <a:rPr lang="ru-RU" sz="2400" dirty="0" smtClean="0">
                    <a:latin typeface="Bahnschrift Light" panose="020B0502040204020203" pitchFamily="34" charset="0"/>
                  </a:rPr>
                  <a:t>Маятник состоит из двух жёстких стержней с распределёнными массами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2400" dirty="0" smtClean="0">
                    <a:latin typeface="Bahnschrift Light" panose="020B0502040204020203" pitchFamily="34" charset="0"/>
                  </a:rPr>
                  <a:t>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ru-RU" sz="2400" b="0" dirty="0" smtClean="0">
                  <a:latin typeface="Bahnschrift Light" panose="020B0502040204020203" pitchFamily="34" charset="0"/>
                </a:endParaRPr>
              </a:p>
              <a:p>
                <a:pPr marL="514350" indent="-514350" algn="just">
                  <a:lnSpc>
                    <a:spcPct val="140000"/>
                  </a:lnSpc>
                  <a:buFont typeface="+mj-lt"/>
                  <a:buAutoNum type="arabicPeriod"/>
                </a:pPr>
                <a:r>
                  <a:rPr lang="ru-RU" sz="2400" dirty="0" smtClean="0">
                    <a:latin typeface="Bahnschrift Light" panose="020B0502040204020203" pitchFamily="34" charset="0"/>
                  </a:rPr>
                  <a:t>Модель учитывает собственное вращение стержней.</a:t>
                </a:r>
              </a:p>
              <a:p>
                <a:pPr marL="514350" indent="-514350" algn="just">
                  <a:lnSpc>
                    <a:spcPct val="140000"/>
                  </a:lnSpc>
                  <a:buFont typeface="+mj-lt"/>
                  <a:buAutoNum type="arabicPeriod"/>
                </a:pPr>
                <a:r>
                  <a:rPr lang="ru-RU" sz="2400" dirty="0" smtClean="0">
                    <a:latin typeface="Bahnschrift Light" panose="020B0502040204020203" pitchFamily="34" charset="0"/>
                  </a:rPr>
                  <a:t>Момент инерции рассчитывается по формуле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(3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𝑑𝑙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ru-RU" sz="2400" dirty="0" smtClean="0">
                  <a:latin typeface="Bahnschrift Light" panose="020B0502040204020203" pitchFamily="34" charset="0"/>
                </a:endParaRPr>
              </a:p>
              <a:p>
                <a:pPr marL="514350" indent="-514350" algn="just">
                  <a:lnSpc>
                    <a:spcPct val="140000"/>
                  </a:lnSpc>
                  <a:buFont typeface="+mj-lt"/>
                  <a:buAutoNum type="arabicPeriod"/>
                </a:pPr>
                <a:r>
                  <a:rPr lang="ru-RU" sz="2400" dirty="0">
                    <a:latin typeface="Bahnschrift Light" panose="020B0502040204020203" pitchFamily="34" charset="0"/>
                  </a:rPr>
                  <a:t>Движение системы описывается обобщёнными координатами, определяющими углы отклонения звеньев от вертикали</a:t>
                </a:r>
                <a:r>
                  <a:rPr lang="ru-RU" sz="2400" dirty="0" smtClean="0">
                    <a:latin typeface="Bahnschrift Light" panose="020B0502040204020203" pitchFamily="34" charset="0"/>
                  </a:rPr>
                  <a:t>.</a:t>
                </a: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81936"/>
                <a:ext cx="10791825" cy="3785364"/>
              </a:xfrm>
              <a:blipFill>
                <a:blip r:embed="rId2"/>
                <a:stretch>
                  <a:fillRect l="-904" r="-8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8183-F4D9-49D1-82A8-C7902BE9A9EB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0985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48084" y="203200"/>
            <a:ext cx="10515600" cy="796925"/>
          </a:xfrm>
        </p:spPr>
        <p:txBody>
          <a:bodyPr/>
          <a:lstStyle/>
          <a:p>
            <a:r>
              <a:rPr lang="ru-RU" dirty="0" smtClean="0">
                <a:latin typeface="Bahnschrift Light" panose="020B0502040204020203" pitchFamily="34" charset="0"/>
              </a:rPr>
              <a:t>Результаты для второй модели</a:t>
            </a:r>
            <a:endParaRPr lang="ru-RU" dirty="0">
              <a:latin typeface="Bahnschrift Light" panose="020B0502040204020203" pitchFamily="34" charset="0"/>
            </a:endParaRPr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8084" y="1168400"/>
            <a:ext cx="10505716" cy="4351338"/>
          </a:xfrm>
          <a:prstGeom prst="rect">
            <a:avLst/>
          </a:prstGeo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8183-F4D9-49D1-82A8-C7902BE9A9EB}" type="slidenum">
              <a:rPr lang="ru-RU" smtClean="0"/>
              <a:t>10</a:t>
            </a:fld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2628900" y="5503347"/>
            <a:ext cx="77438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Bahnschrift Light" panose="020B0502040204020203" pitchFamily="34" charset="0"/>
              </a:rPr>
              <a:t>Рисунок </a:t>
            </a:r>
            <a:r>
              <a:rPr lang="ru-RU" dirty="0" smtClean="0">
                <a:latin typeface="Bahnschrift Light" panose="020B0502040204020203" pitchFamily="34" charset="0"/>
              </a:rPr>
              <a:t>4. </a:t>
            </a:r>
            <a:r>
              <a:rPr lang="ru-RU" dirty="0">
                <a:latin typeface="Bahnschrift Light" panose="020B0502040204020203" pitchFamily="34" charset="0"/>
              </a:rPr>
              <a:t>Графики сравнения модели и экспериментальных данных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56590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5500"/>
          </a:xfrm>
        </p:spPr>
        <p:txBody>
          <a:bodyPr/>
          <a:lstStyle/>
          <a:p>
            <a:r>
              <a:rPr lang="ru-RU" dirty="0" smtClean="0">
                <a:latin typeface="Bahnschrift Light" panose="020B0502040204020203" pitchFamily="34" charset="0"/>
              </a:rPr>
              <a:t>Сечение Пуанкаре</a:t>
            </a:r>
            <a:r>
              <a:rPr lang="en-US" dirty="0" smtClean="0">
                <a:latin typeface="Bahnschrift Light" panose="020B0502040204020203" pitchFamily="34" charset="0"/>
              </a:rPr>
              <a:t> </a:t>
            </a:r>
            <a:r>
              <a:rPr lang="ru-RU" dirty="0" smtClean="0">
                <a:latin typeface="Bahnschrift Light" panose="020B0502040204020203" pitchFamily="34" charset="0"/>
              </a:rPr>
              <a:t>для модели 2</a:t>
            </a:r>
            <a:endParaRPr lang="ru-RU" dirty="0">
              <a:latin typeface="Bahnschrift Light" panose="020B0502040204020203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8183-F4D9-49D1-82A8-C7902BE9A9EB}" type="slidenum">
              <a:rPr lang="ru-RU" smtClean="0"/>
              <a:t>11</a:t>
            </a:fld>
            <a:endParaRPr lang="ru-R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Прямоугольник 5"/>
              <p:cNvSpPr/>
              <p:nvPr/>
            </p:nvSpPr>
            <p:spPr>
              <a:xfrm>
                <a:off x="3441983" y="5805488"/>
                <a:ext cx="576523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ru-RU" dirty="0">
                    <a:latin typeface="Bahnschrift Light" panose="020B0502040204020203" pitchFamily="34" charset="0"/>
                  </a:rPr>
                  <a:t>Рисунок </a:t>
                </a:r>
                <a:r>
                  <a:rPr lang="ru-RU" dirty="0" smtClean="0">
                    <a:latin typeface="Bahnschrift Light" panose="020B0502040204020203" pitchFamily="34" charset="0"/>
                  </a:rPr>
                  <a:t>5. </a:t>
                </a:r>
                <a:r>
                  <a:rPr lang="ru-RU" dirty="0">
                    <a:latin typeface="Bahnschrift Light" panose="020B0502040204020203" pitchFamily="34" charset="0"/>
                  </a:rPr>
                  <a:t>Сечение </a:t>
                </a:r>
                <a:r>
                  <a:rPr lang="ru-RU" dirty="0">
                    <a:latin typeface="Bahnschrift Light" panose="020B0502040204020203" pitchFamily="34" charset="0"/>
                  </a:rPr>
                  <a:t>П</a:t>
                </a:r>
                <a:r>
                  <a:rPr lang="ru-RU" dirty="0">
                    <a:latin typeface="Bahnschrift Light" panose="020B0502040204020203" pitchFamily="34" charset="0"/>
                  </a:rPr>
                  <a:t>уанкаре при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𝑐𝑜𝑛𝑠𝑡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ru-RU" dirty="0">
                    <a:latin typeface="Bahnschrift Light" panose="020B0502040204020203" pitchFamily="34" charset="0"/>
                  </a:rPr>
                  <a:t> </a:t>
                </a:r>
                <a:endParaRPr lang="ru-RU" dirty="0">
                  <a:latin typeface="Bahnschrift Light" panose="020B0502040204020203" pitchFamily="34" charset="0"/>
                </a:endParaRPr>
              </a:p>
            </p:txBody>
          </p:sp>
        </mc:Choice>
        <mc:Fallback>
          <p:sp>
            <p:nvSpPr>
              <p:cNvPr id="6" name="Прямоугольник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1983" y="5805488"/>
                <a:ext cx="5765233" cy="369332"/>
              </a:xfrm>
              <a:prstGeom prst="rect">
                <a:avLst/>
              </a:prstGeom>
              <a:blipFill>
                <a:blip r:embed="rId2"/>
                <a:stretch>
                  <a:fillRect l="-952" t="-8197" b="-245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Объект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858999" y="1322388"/>
            <a:ext cx="447400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159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2175"/>
          </a:xfrm>
        </p:spPr>
        <p:txBody>
          <a:bodyPr/>
          <a:lstStyle/>
          <a:p>
            <a:r>
              <a:rPr lang="ru-RU" dirty="0" smtClean="0">
                <a:latin typeface="Bahnschrift Light" panose="020B0502040204020203" pitchFamily="34" charset="0"/>
              </a:rPr>
              <a:t>Сравнение двух моделей</a:t>
            </a:r>
            <a:endParaRPr lang="ru-RU" dirty="0">
              <a:latin typeface="Bahnschrift Light" panose="020B0502040204020203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8183-F4D9-49D1-82A8-C7902BE9A9EB}" type="slidenum">
              <a:rPr lang="ru-RU" smtClean="0"/>
              <a:t>12</a:t>
            </a:fld>
            <a:endParaRPr lang="ru-RU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Таблица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04198898"/>
                  </p:ext>
                </p:extLst>
              </p:nvPr>
            </p:nvGraphicFramePr>
            <p:xfrm>
              <a:off x="1720849" y="1786466"/>
              <a:ext cx="8366124" cy="1943805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1394354">
                      <a:extLst>
                        <a:ext uri="{9D8B030D-6E8A-4147-A177-3AD203B41FA5}">
                          <a16:colId xmlns:a16="http://schemas.microsoft.com/office/drawing/2014/main" val="3350415592"/>
                        </a:ext>
                      </a:extLst>
                    </a:gridCol>
                    <a:gridCol w="1394354">
                      <a:extLst>
                        <a:ext uri="{9D8B030D-6E8A-4147-A177-3AD203B41FA5}">
                          <a16:colId xmlns:a16="http://schemas.microsoft.com/office/drawing/2014/main" val="2720197636"/>
                        </a:ext>
                      </a:extLst>
                    </a:gridCol>
                    <a:gridCol w="1394354">
                      <a:extLst>
                        <a:ext uri="{9D8B030D-6E8A-4147-A177-3AD203B41FA5}">
                          <a16:colId xmlns:a16="http://schemas.microsoft.com/office/drawing/2014/main" val="3451370612"/>
                        </a:ext>
                      </a:extLst>
                    </a:gridCol>
                    <a:gridCol w="1394354">
                      <a:extLst>
                        <a:ext uri="{9D8B030D-6E8A-4147-A177-3AD203B41FA5}">
                          <a16:colId xmlns:a16="http://schemas.microsoft.com/office/drawing/2014/main" val="3026996023"/>
                        </a:ext>
                      </a:extLst>
                    </a:gridCol>
                    <a:gridCol w="1394354">
                      <a:extLst>
                        <a:ext uri="{9D8B030D-6E8A-4147-A177-3AD203B41FA5}">
                          <a16:colId xmlns:a16="http://schemas.microsoft.com/office/drawing/2014/main" val="3962027852"/>
                        </a:ext>
                      </a:extLst>
                    </a:gridCol>
                    <a:gridCol w="1394354">
                      <a:extLst>
                        <a:ext uri="{9D8B030D-6E8A-4147-A177-3AD203B41FA5}">
                          <a16:colId xmlns:a16="http://schemas.microsoft.com/office/drawing/2014/main" val="2883931755"/>
                        </a:ext>
                      </a:extLst>
                    </a:gridCol>
                  </a:tblGrid>
                  <a:tr h="388761"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RMSE</a:t>
                          </a:r>
                          <a:endParaRPr lang="ru-RU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MAE</a:t>
                          </a:r>
                          <a:endParaRPr lang="ru-RU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R2</a:t>
                          </a:r>
                          <a:endParaRPr lang="ru-RU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Pearson</a:t>
                          </a:r>
                          <a:endParaRPr lang="ru-RU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1453474"/>
                      </a:ext>
                    </a:extLst>
                  </a:tr>
                  <a:tr h="388761">
                    <a:tc rowSpan="2">
                      <a:txBody>
                        <a:bodyPr/>
                        <a:lstStyle/>
                        <a:p>
                          <a:r>
                            <a:rPr lang="ru-RU" dirty="0" smtClean="0"/>
                            <a:t>Модель 1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mtClean="0"/>
                                    </m:ctrlPr>
                                  </m:sSubPr>
                                  <m:e>
                                    <m:r>
                                      <a:rPr lang="ru-RU" smtClean="0"/>
                                      <m:t>𝜃</m:t>
                                    </m:r>
                                  </m:e>
                                  <m:sub>
                                    <m:r>
                                      <a:rPr lang="ru-RU" smtClean="0"/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0.854097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0.527248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-0.470471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0.036839</a:t>
                          </a:r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3272161"/>
                      </a:ext>
                    </a:extLst>
                  </a:tr>
                  <a:tr h="388761">
                    <a:tc vMerge="1"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mtClean="0"/>
                                    </m:ctrlPr>
                                  </m:sSubPr>
                                  <m:e>
                                    <m:r>
                                      <a:rPr lang="ru-RU" smtClean="0"/>
                                      <m:t>𝜃</m:t>
                                    </m:r>
                                  </m:e>
                                  <m:sub>
                                    <m:r>
                                      <a:rPr lang="ru-RU" smtClean="0"/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18.960714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11.250574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-0.000103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0.466214</a:t>
                          </a:r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5157479"/>
                      </a:ext>
                    </a:extLst>
                  </a:tr>
                  <a:tr h="388761">
                    <a:tc rowSpan="2">
                      <a:txBody>
                        <a:bodyPr/>
                        <a:lstStyle/>
                        <a:p>
                          <a:r>
                            <a:rPr lang="ru-RU" dirty="0" smtClean="0"/>
                            <a:t>Модель 2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ru-RU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0.817531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0.475478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-0.347256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0.022252</a:t>
                          </a:r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40231091"/>
                      </a:ext>
                    </a:extLst>
                  </a:tr>
                  <a:tr h="388761">
                    <a:tc vMerge="1"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ru-RU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33.529683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28.705864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-2.127478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-0.293262</a:t>
                          </a:r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380720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Таблица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04198898"/>
                  </p:ext>
                </p:extLst>
              </p:nvPr>
            </p:nvGraphicFramePr>
            <p:xfrm>
              <a:off x="1720849" y="1786466"/>
              <a:ext cx="8366124" cy="1943805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1394354">
                      <a:extLst>
                        <a:ext uri="{9D8B030D-6E8A-4147-A177-3AD203B41FA5}">
                          <a16:colId xmlns:a16="http://schemas.microsoft.com/office/drawing/2014/main" val="3350415592"/>
                        </a:ext>
                      </a:extLst>
                    </a:gridCol>
                    <a:gridCol w="1394354">
                      <a:extLst>
                        <a:ext uri="{9D8B030D-6E8A-4147-A177-3AD203B41FA5}">
                          <a16:colId xmlns:a16="http://schemas.microsoft.com/office/drawing/2014/main" val="2720197636"/>
                        </a:ext>
                      </a:extLst>
                    </a:gridCol>
                    <a:gridCol w="1394354">
                      <a:extLst>
                        <a:ext uri="{9D8B030D-6E8A-4147-A177-3AD203B41FA5}">
                          <a16:colId xmlns:a16="http://schemas.microsoft.com/office/drawing/2014/main" val="3451370612"/>
                        </a:ext>
                      </a:extLst>
                    </a:gridCol>
                    <a:gridCol w="1394354">
                      <a:extLst>
                        <a:ext uri="{9D8B030D-6E8A-4147-A177-3AD203B41FA5}">
                          <a16:colId xmlns:a16="http://schemas.microsoft.com/office/drawing/2014/main" val="3026996023"/>
                        </a:ext>
                      </a:extLst>
                    </a:gridCol>
                    <a:gridCol w="1394354">
                      <a:extLst>
                        <a:ext uri="{9D8B030D-6E8A-4147-A177-3AD203B41FA5}">
                          <a16:colId xmlns:a16="http://schemas.microsoft.com/office/drawing/2014/main" val="3962027852"/>
                        </a:ext>
                      </a:extLst>
                    </a:gridCol>
                    <a:gridCol w="1394354">
                      <a:extLst>
                        <a:ext uri="{9D8B030D-6E8A-4147-A177-3AD203B41FA5}">
                          <a16:colId xmlns:a16="http://schemas.microsoft.com/office/drawing/2014/main" val="2883931755"/>
                        </a:ext>
                      </a:extLst>
                    </a:gridCol>
                  </a:tblGrid>
                  <a:tr h="388761"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RMSE</a:t>
                          </a:r>
                          <a:endParaRPr lang="ru-RU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MAE</a:t>
                          </a:r>
                          <a:endParaRPr lang="ru-RU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R2</a:t>
                          </a:r>
                          <a:endParaRPr lang="ru-RU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Pearson</a:t>
                          </a:r>
                          <a:endParaRPr lang="ru-RU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1453474"/>
                      </a:ext>
                    </a:extLst>
                  </a:tr>
                  <a:tr h="388761">
                    <a:tc rowSpan="2">
                      <a:txBody>
                        <a:bodyPr/>
                        <a:lstStyle/>
                        <a:p>
                          <a:r>
                            <a:rPr lang="ru-RU" dirty="0" smtClean="0"/>
                            <a:t>Модель 1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100437" t="-107813" r="-401310" b="-3171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0.854097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0.527248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-0.470471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0.036839</a:t>
                          </a:r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3272161"/>
                      </a:ext>
                    </a:extLst>
                  </a:tr>
                  <a:tr h="388761">
                    <a:tc vMerge="1"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100437" t="-211111" r="-401310" b="-2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18.960714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11.250574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-0.000103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0.466214</a:t>
                          </a:r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5157479"/>
                      </a:ext>
                    </a:extLst>
                  </a:tr>
                  <a:tr h="388761">
                    <a:tc rowSpan="2">
                      <a:txBody>
                        <a:bodyPr/>
                        <a:lstStyle/>
                        <a:p>
                          <a:r>
                            <a:rPr lang="ru-RU" dirty="0" smtClean="0"/>
                            <a:t>Модель 2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100437" t="-306250" r="-401310" b="-11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0.817531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0.475478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-0.347256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0.022252</a:t>
                          </a:r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40231091"/>
                      </a:ext>
                    </a:extLst>
                  </a:tr>
                  <a:tr h="388761">
                    <a:tc vMerge="1"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100437" t="-406250" r="-401310" b="-1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33.529683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28.705864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-2.127478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 smtClean="0"/>
                            <a:t>-0.293262</a:t>
                          </a:r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38072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Прямоугольник 5"/>
          <p:cNvSpPr/>
          <p:nvPr/>
        </p:nvSpPr>
        <p:spPr>
          <a:xfrm>
            <a:off x="6452646" y="3789918"/>
            <a:ext cx="35766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i="1" dirty="0" smtClean="0">
                <a:latin typeface="Bahnschrift Light" panose="020B0502040204020203" pitchFamily="34" charset="0"/>
              </a:rPr>
              <a:t>Таблица 1. Результаты моделей</a:t>
            </a:r>
            <a:endParaRPr lang="ru-RU" i="1" dirty="0"/>
          </a:p>
        </p:txBody>
      </p:sp>
    </p:spTree>
    <p:extLst>
      <p:ext uri="{BB962C8B-B14F-4D97-AF65-F5344CB8AC3E}">
        <p14:creationId xmlns:p14="http://schemas.microsoft.com/office/powerpoint/2010/main" val="1540169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8850"/>
          </a:xfrm>
        </p:spPr>
        <p:txBody>
          <a:bodyPr/>
          <a:lstStyle/>
          <a:p>
            <a:r>
              <a:rPr lang="ru-RU" dirty="0" smtClean="0"/>
              <a:t>Список литературы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323975"/>
            <a:ext cx="10515600" cy="4852988"/>
          </a:xfrm>
        </p:spPr>
        <p:txBody>
          <a:bodyPr>
            <a:normAutofit fontScale="92500" lnSpcReduction="10000"/>
          </a:bodyPr>
          <a:lstStyle/>
          <a:p>
            <a:pPr marL="514350" indent="-514350" algn="just">
              <a:buAutoNum type="arabicPeriod"/>
            </a:pPr>
            <a:r>
              <a:rPr lang="en-US" dirty="0" smtClean="0">
                <a:latin typeface="Bahnschrift Light" panose="020B0502040204020203" pitchFamily="34" charset="0"/>
              </a:rPr>
              <a:t>A </a:t>
            </a:r>
            <a:r>
              <a:rPr lang="en-US" dirty="0">
                <a:latin typeface="Bahnschrift Light" panose="020B0502040204020203" pitchFamily="34" charset="0"/>
              </a:rPr>
              <a:t>comprehensive experimental dataset for the double pendulum / Hardwick, L.E., Cleaver, L., Moore, K.L., et al. Scientific Data. 2020. Vol. 7, Article 384. DOI: 10.1038/s41597-020-00676-w. URL: https://www.sciencedirect.com/science/article/pii/S246806722030047X (</a:t>
            </a:r>
            <a:r>
              <a:rPr lang="ru-RU" dirty="0">
                <a:latin typeface="Bahnschrift Light" panose="020B0502040204020203" pitchFamily="34" charset="0"/>
              </a:rPr>
              <a:t>дата обращения: 20.12.2025</a:t>
            </a:r>
            <a:r>
              <a:rPr lang="ru-RU" dirty="0" smtClean="0">
                <a:latin typeface="Bahnschrift Light" panose="020B0502040204020203" pitchFamily="34" charset="0"/>
              </a:rPr>
              <a:t>).</a:t>
            </a:r>
          </a:p>
          <a:p>
            <a:pPr marL="514350" indent="-514350" algn="just">
              <a:buAutoNum type="arabicPeriod"/>
            </a:pPr>
            <a:r>
              <a:rPr lang="en-US" dirty="0" smtClean="0">
                <a:latin typeface="Bahnschrift Light" panose="020B0502040204020203" pitchFamily="34" charset="0"/>
              </a:rPr>
              <a:t>The </a:t>
            </a:r>
            <a:r>
              <a:rPr lang="en-US" dirty="0">
                <a:latin typeface="Bahnschrift Light" panose="020B0502040204020203" pitchFamily="34" charset="0"/>
              </a:rPr>
              <a:t>ups and downs of the compound double pendulum / The Galileo Project. URL: https://galileo-unbound.blog/2020/10/18/the-ups-and-downs-of-the-compound-double-pendulum/ (</a:t>
            </a:r>
            <a:r>
              <a:rPr lang="ru-RU" dirty="0">
                <a:latin typeface="Bahnschrift Light" panose="020B0502040204020203" pitchFamily="34" charset="0"/>
              </a:rPr>
              <a:t>дата обращения: 20.12.2025</a:t>
            </a:r>
            <a:r>
              <a:rPr lang="ru-RU" dirty="0" smtClean="0">
                <a:latin typeface="Bahnschrift Light" panose="020B0502040204020203" pitchFamily="34" charset="0"/>
              </a:rPr>
              <a:t>).</a:t>
            </a:r>
          </a:p>
          <a:p>
            <a:pPr marL="514350" indent="-514350" algn="just">
              <a:buAutoNum type="arabicPeriod"/>
            </a:pPr>
            <a:r>
              <a:rPr lang="ru-RU" dirty="0" smtClean="0">
                <a:latin typeface="Bahnschrift Light" panose="020B0502040204020203" pitchFamily="34" charset="0"/>
              </a:rPr>
              <a:t>Сечения </a:t>
            </a:r>
            <a:r>
              <a:rPr lang="ru-RU" dirty="0">
                <a:latin typeface="Bahnschrift Light" panose="020B0502040204020203" pitchFamily="34" charset="0"/>
              </a:rPr>
              <a:t>Пуанкаре при описании поведения нелинейных систем / (монография / статья / учебное пособие — уточни, если есть автор и год). </a:t>
            </a:r>
            <a:r>
              <a:rPr lang="en-US" dirty="0">
                <a:latin typeface="Bahnschrift Light" panose="020B0502040204020203" pitchFamily="34" charset="0"/>
              </a:rPr>
              <a:t>URL: (</a:t>
            </a:r>
            <a:r>
              <a:rPr lang="ru-RU" dirty="0">
                <a:latin typeface="Bahnschrift Light" panose="020B0502040204020203" pitchFamily="34" charset="0"/>
              </a:rPr>
              <a:t>укажи точный источник, если это электронный ресурс). (дата обращения: 20.12.2025).</a:t>
            </a:r>
            <a:endParaRPr lang="ru-RU" dirty="0">
              <a:latin typeface="Bahnschrift Light" panose="020B0502040204020203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8183-F4D9-49D1-82A8-C7902BE9A9EB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0720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3900" y="2794000"/>
            <a:ext cx="10515600" cy="1325563"/>
          </a:xfrm>
        </p:spPr>
        <p:txBody>
          <a:bodyPr/>
          <a:lstStyle/>
          <a:p>
            <a:pPr algn="ctr"/>
            <a:r>
              <a:rPr lang="ru-RU" dirty="0" smtClean="0">
                <a:latin typeface="Bahnschrift Light" panose="020B0502040204020203" pitchFamily="34" charset="0"/>
              </a:rPr>
              <a:t>Спасибо за внимание!</a:t>
            </a:r>
            <a:endParaRPr lang="ru-RU" dirty="0">
              <a:latin typeface="Bahnschrift Light" panose="020B0502040204020203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8183-F4D9-49D1-82A8-C7902BE9A9EB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9354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977</TotalTime>
  <Words>430</Words>
  <Application>Microsoft Office PowerPoint</Application>
  <PresentationFormat>Широкоэкранный</PresentationFormat>
  <Paragraphs>91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1" baseType="lpstr">
      <vt:lpstr>Arial</vt:lpstr>
      <vt:lpstr>Bahnschrift Light</vt:lpstr>
      <vt:lpstr>Calibri</vt:lpstr>
      <vt:lpstr>Calibri Light</vt:lpstr>
      <vt:lpstr>Cambria Math</vt:lpstr>
      <vt:lpstr>Times New Roman</vt:lpstr>
      <vt:lpstr>Тема Office</vt:lpstr>
      <vt:lpstr>Двойной математический маятник</vt:lpstr>
      <vt:lpstr>Задачи</vt:lpstr>
      <vt:lpstr>Модель 1</vt:lpstr>
      <vt:lpstr>Система дифференциальных уравнений</vt:lpstr>
      <vt:lpstr>Подбор параметров модели</vt:lpstr>
      <vt:lpstr>Результаты для первой модели маятника 1</vt:lpstr>
      <vt:lpstr>Результаты для первой модели маятника 2</vt:lpstr>
      <vt:lpstr>Сечение Пуанкаре для модели 1</vt:lpstr>
      <vt:lpstr>Модель 2</vt:lpstr>
      <vt:lpstr>Результаты для второй модели</vt:lpstr>
      <vt:lpstr>Сечение Пуанкаре для модели 2</vt:lpstr>
      <vt:lpstr>Сравнение двух моделей</vt:lpstr>
      <vt:lpstr>Список литературы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Двойной математический маятник</dc:title>
  <dc:creator>Мария</dc:creator>
  <cp:lastModifiedBy>Мария</cp:lastModifiedBy>
  <cp:revision>36</cp:revision>
  <dcterms:created xsi:type="dcterms:W3CDTF">2025-12-24T15:03:41Z</dcterms:created>
  <dcterms:modified xsi:type="dcterms:W3CDTF">2025-12-26T00:45:01Z</dcterms:modified>
</cp:coreProperties>
</file>